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67" r:id="rId3"/>
    <p:sldId id="257" r:id="rId4"/>
    <p:sldId id="266" r:id="rId5"/>
    <p:sldId id="268" r:id="rId6"/>
    <p:sldId id="258" r:id="rId7"/>
    <p:sldId id="259" r:id="rId8"/>
    <p:sldId id="260" r:id="rId9"/>
    <p:sldId id="261" r:id="rId10"/>
    <p:sldId id="262" r:id="rId11"/>
    <p:sldId id="273" r:id="rId12"/>
    <p:sldId id="274" r:id="rId13"/>
    <p:sldId id="275" r:id="rId14"/>
    <p:sldId id="263" r:id="rId15"/>
    <p:sldId id="269" r:id="rId16"/>
    <p:sldId id="272" r:id="rId17"/>
    <p:sldId id="264" r:id="rId18"/>
    <p:sldId id="270" r:id="rId19"/>
    <p:sldId id="271" r:id="rId20"/>
    <p:sldId id="265" r:id="rId21"/>
  </p:sldIdLst>
  <p:sldSz cx="9753600" cy="7315200"/>
  <p:notesSz cx="9753600" cy="73152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3" roundtripDataSignature="AMtx7mjP3zEIWZyCYabOvA+uP1BT6mGl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1574" y="72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customschemas.google.com/relationships/presentationmetadata" Target="meta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625925" y="548625"/>
            <a:ext cx="6502725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" name="Google Shape;5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" name="Google Shape;5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625925" y="548625"/>
            <a:ext cx="6502725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3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1" name="Google Shape;7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8" name="Google Shape;7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5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6" name="Google Shape;86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6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4" name="Google Shape;9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19ac019662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3" name="Google Shape;103;g319ac019662_0_1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3000" cy="3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:notes"/>
          <p:cNvSpPr txBox="1">
            <a:spLocks noGrp="1"/>
          </p:cNvSpPr>
          <p:nvPr>
            <p:ph type="body" idx="1"/>
          </p:nvPr>
        </p:nvSpPr>
        <p:spPr>
          <a:xfrm>
            <a:off x="975350" y="3474700"/>
            <a:ext cx="7802875" cy="3291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16" name="Google Shape;11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048000" y="549275"/>
            <a:ext cx="3657600" cy="27432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9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0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body" idx="1"/>
          </p:nvPr>
        </p:nvSpPr>
        <p:spPr>
          <a:xfrm>
            <a:off x="428995" y="1289312"/>
            <a:ext cx="895223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0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1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2"/>
          <p:cNvSpPr txBox="1">
            <a:spLocks noGrp="1"/>
          </p:cNvSpPr>
          <p:nvPr>
            <p:ph type="ctrTitle"/>
          </p:nvPr>
        </p:nvSpPr>
        <p:spPr>
          <a:xfrm>
            <a:off x="731520" y="2267712"/>
            <a:ext cx="8290560" cy="153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2"/>
          <p:cNvSpPr txBox="1">
            <a:spLocks noGrp="1"/>
          </p:cNvSpPr>
          <p:nvPr>
            <p:ph type="subTitle" idx="1"/>
          </p:nvPr>
        </p:nvSpPr>
        <p:spPr>
          <a:xfrm>
            <a:off x="1463040" y="4096512"/>
            <a:ext cx="682752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3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400" b="0" i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3"/>
          <p:cNvSpPr txBox="1">
            <a:spLocks noGrp="1"/>
          </p:cNvSpPr>
          <p:nvPr>
            <p:ph type="body" idx="1"/>
          </p:nvPr>
        </p:nvSpPr>
        <p:spPr>
          <a:xfrm>
            <a:off x="487680" y="1682496"/>
            <a:ext cx="4242816" cy="482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3"/>
          <p:cNvSpPr txBox="1">
            <a:spLocks noGrp="1"/>
          </p:cNvSpPr>
          <p:nvPr>
            <p:ph type="body" idx="2"/>
          </p:nvPr>
        </p:nvSpPr>
        <p:spPr>
          <a:xfrm>
            <a:off x="5023104" y="1682496"/>
            <a:ext cx="4242816" cy="4828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3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50" b="1" i="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3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/>
          <p:nvPr/>
        </p:nvSpPr>
        <p:spPr>
          <a:xfrm>
            <a:off x="0" y="0"/>
            <a:ext cx="9752965" cy="894080"/>
          </a:xfrm>
          <a:custGeom>
            <a:avLst/>
            <a:gdLst/>
            <a:ahLst/>
            <a:cxnLst/>
            <a:rect l="l" t="t" r="r" b="b"/>
            <a:pathLst>
              <a:path w="9752965" h="894080" extrusionOk="0">
                <a:moveTo>
                  <a:pt x="9752456" y="893567"/>
                </a:moveTo>
                <a:lnTo>
                  <a:pt x="0" y="893567"/>
                </a:lnTo>
                <a:lnTo>
                  <a:pt x="0" y="0"/>
                </a:lnTo>
                <a:lnTo>
                  <a:pt x="9752456" y="0"/>
                </a:lnTo>
                <a:lnTo>
                  <a:pt x="9752456" y="893567"/>
                </a:lnTo>
                <a:close/>
              </a:path>
            </a:pathLst>
          </a:custGeom>
          <a:solidFill>
            <a:srgbClr val="FF3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p8"/>
          <p:cNvSpPr/>
          <p:nvPr/>
        </p:nvSpPr>
        <p:spPr>
          <a:xfrm>
            <a:off x="0" y="7151615"/>
            <a:ext cx="9753600" cy="163830"/>
          </a:xfrm>
          <a:custGeom>
            <a:avLst/>
            <a:gdLst/>
            <a:ahLst/>
            <a:cxnLst/>
            <a:rect l="l" t="t" r="r" b="b"/>
            <a:pathLst>
              <a:path w="9753600" h="163829" extrusionOk="0">
                <a:moveTo>
                  <a:pt x="9753218" y="163584"/>
                </a:moveTo>
                <a:lnTo>
                  <a:pt x="0" y="163584"/>
                </a:lnTo>
                <a:lnTo>
                  <a:pt x="0" y="0"/>
                </a:lnTo>
                <a:lnTo>
                  <a:pt x="9753218" y="0"/>
                </a:lnTo>
                <a:lnTo>
                  <a:pt x="9753218" y="163584"/>
                </a:ln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" name="Google Shape;8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6989951" y="243840"/>
            <a:ext cx="2190749" cy="676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9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89951" y="243840"/>
            <a:ext cx="2047874" cy="647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89951" y="243840"/>
            <a:ext cx="2190749" cy="67627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8"/>
          <p:cNvSpPr/>
          <p:nvPr/>
        </p:nvSpPr>
        <p:spPr>
          <a:xfrm>
            <a:off x="6556416" y="0"/>
            <a:ext cx="3197860" cy="894080"/>
          </a:xfrm>
          <a:custGeom>
            <a:avLst/>
            <a:gdLst/>
            <a:ahLst/>
            <a:cxnLst/>
            <a:rect l="l" t="t" r="r" b="b"/>
            <a:pathLst>
              <a:path w="3197859" h="894080" extrusionOk="0">
                <a:moveTo>
                  <a:pt x="3197297" y="893567"/>
                </a:moveTo>
                <a:lnTo>
                  <a:pt x="0" y="893567"/>
                </a:lnTo>
                <a:lnTo>
                  <a:pt x="0" y="0"/>
                </a:lnTo>
                <a:lnTo>
                  <a:pt x="3197297" y="0"/>
                </a:lnTo>
                <a:lnTo>
                  <a:pt x="3197297" y="893567"/>
                </a:lnTo>
                <a:close/>
              </a:path>
            </a:pathLst>
          </a:custGeom>
          <a:solidFill>
            <a:srgbClr val="FF3300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6989951" y="243840"/>
            <a:ext cx="2190749" cy="67627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8"/>
          <p:cNvSpPr/>
          <p:nvPr/>
        </p:nvSpPr>
        <p:spPr>
          <a:xfrm>
            <a:off x="6963071" y="203136"/>
            <a:ext cx="2213610" cy="731520"/>
          </a:xfrm>
          <a:custGeom>
            <a:avLst/>
            <a:gdLst/>
            <a:ahLst/>
            <a:cxnLst/>
            <a:rect l="l" t="t" r="r" b="b"/>
            <a:pathLst>
              <a:path w="2213609" h="731519" extrusionOk="0">
                <a:moveTo>
                  <a:pt x="2213399" y="731135"/>
                </a:moveTo>
                <a:lnTo>
                  <a:pt x="0" y="731135"/>
                </a:lnTo>
                <a:lnTo>
                  <a:pt x="0" y="0"/>
                </a:lnTo>
                <a:lnTo>
                  <a:pt x="2213399" y="0"/>
                </a:lnTo>
                <a:lnTo>
                  <a:pt x="2213399" y="73113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" name="Google Shape;14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989951" y="243840"/>
            <a:ext cx="2047874" cy="647623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8"/>
          <p:cNvSpPr txBox="1">
            <a:spLocks noGrp="1"/>
          </p:cNvSpPr>
          <p:nvPr>
            <p:ph type="title"/>
          </p:nvPr>
        </p:nvSpPr>
        <p:spPr>
          <a:xfrm>
            <a:off x="1932513" y="109377"/>
            <a:ext cx="3569335" cy="69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body" idx="1"/>
          </p:nvPr>
        </p:nvSpPr>
        <p:spPr>
          <a:xfrm>
            <a:off x="428995" y="1289312"/>
            <a:ext cx="8952230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1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8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50" b="1" i="0" u="none" strike="noStrike" cap="non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8"/>
          <p:cNvSpPr txBox="1">
            <a:spLocks noGrp="1"/>
          </p:cNvSpPr>
          <p:nvPr>
            <p:ph type="dt" idx="10"/>
          </p:nvPr>
        </p:nvSpPr>
        <p:spPr>
          <a:xfrm>
            <a:off x="487680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sldNum" idx="12"/>
          </p:nvPr>
        </p:nvSpPr>
        <p:spPr>
          <a:xfrm>
            <a:off x="7022592" y="6803136"/>
            <a:ext cx="22433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"/>
          <p:cNvSpPr txBox="1"/>
          <p:nvPr/>
        </p:nvSpPr>
        <p:spPr>
          <a:xfrm>
            <a:off x="267855" y="1152575"/>
            <a:ext cx="9033300" cy="390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225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 Activity Recognition (HAR) Using</a:t>
            </a:r>
            <a:endParaRPr sz="3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Smartphone Sensors: A Machine Learning</a:t>
            </a:r>
            <a:endParaRPr sz="3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Perspective</a:t>
            </a:r>
            <a:endParaRPr sz="3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1973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1973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1973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1973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1973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lnSpc>
                <a:spcPct val="119736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4945" marR="2727325" lvl="0" indent="0" algn="ctr" rtl="0">
              <a:lnSpc>
                <a:spcPct val="101200"/>
              </a:lnSpc>
              <a:spcBef>
                <a:spcPts val="5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By </a:t>
            </a: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2734945" marR="2727325" lvl="0" algn="ctr">
              <a:lnSpc>
                <a:spcPct val="101200"/>
              </a:lnSpc>
              <a:spcBef>
                <a:spcPts val="5"/>
              </a:spcBef>
            </a:pP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Dr. Simarjit Kaur</a:t>
            </a:r>
            <a:endParaRPr sz="20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1"/>
          <p:cNvSpPr txBox="1"/>
          <p:nvPr/>
        </p:nvSpPr>
        <p:spPr>
          <a:xfrm>
            <a:off x="1324927" y="5542364"/>
            <a:ext cx="7103745" cy="959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3000" rIns="0" bIns="0" anchor="t" anchorCtr="0">
            <a:spAutoFit/>
          </a:bodyPr>
          <a:lstStyle/>
          <a:p>
            <a:pPr marL="1631950" marR="5080" lvl="0" indent="-1619885" algn="ctr" rtl="0">
              <a:lnSpc>
                <a:spcPct val="11764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Department of Computer Science and Engineering, Chitkara University, Punjab</a:t>
            </a: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1"/>
          <p:cNvSpPr txBox="1"/>
          <p:nvPr/>
        </p:nvSpPr>
        <p:spPr>
          <a:xfrm>
            <a:off x="16185" y="3009672"/>
            <a:ext cx="9305753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just"/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Khushvir Singh Maan (2210991802) 		           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Krishna Saini (2210991809)</a:t>
            </a: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just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Krishna Gupta(2210991811) 			   Divyanshi Dhingra (2210991536)</a:t>
            </a:r>
            <a:endParaRPr sz="1400" b="0" i="0" u="none" strike="noStrike" cap="none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AFEA338-11A3-B883-4C2E-944AD8F05D44}"/>
              </a:ext>
            </a:extLst>
          </p:cNvPr>
          <p:cNvSpPr txBox="1"/>
          <p:nvPr/>
        </p:nvSpPr>
        <p:spPr>
          <a:xfrm>
            <a:off x="210207" y="367862"/>
            <a:ext cx="7104993" cy="67095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None/>
            </a:pP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Human Activity Recognition (HAR) identifies activities such as walking, sitting, standing, and lying using smartphone sensor data.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This project uses the UCI-HAR dataset containing accelerometer and gyroscope signals.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Multiple machine learning and deep learning models were implemented: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SVM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Random Forest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- 1D CNN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LSTM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CNN-LSTM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- CNN-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SMOTE was used for class imbalance handling.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CNN-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achieved the best performance with 92.87% accuracy.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TensorFlow Lite quantization was used for lightweight edge deployment.</a:t>
            </a:r>
          </a:p>
        </p:txBody>
      </p:sp>
    </p:spTree>
    <p:extLst>
      <p:ext uri="{BB962C8B-B14F-4D97-AF65-F5344CB8AC3E}">
        <p14:creationId xmlns:p14="http://schemas.microsoft.com/office/powerpoint/2010/main" val="28613171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"/>
          <p:cNvSpPr txBox="1">
            <a:spLocks noGrp="1"/>
          </p:cNvSpPr>
          <p:nvPr>
            <p:ph type="title"/>
          </p:nvPr>
        </p:nvSpPr>
        <p:spPr>
          <a:xfrm>
            <a:off x="-387625" y="109377"/>
            <a:ext cx="5889474" cy="444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60198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Introduction</a:t>
            </a:r>
            <a:endParaRPr/>
          </a:p>
        </p:txBody>
      </p:sp>
      <p:sp>
        <p:nvSpPr>
          <p:cNvPr id="60" name="Google Shape;60;p2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189186" y="1737592"/>
            <a:ext cx="8502869" cy="2862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Today, our smartphones are more than just communication devices they can actually understand what we’re doing. 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Human Activity Recognition, or HAR, is a system that identifies activities like walking, sitting, or running using data from phone sensors. 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Sensors like the 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accelerometer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</a:t>
            </a:r>
            <a:r>
              <a:rPr lang="en-US" sz="18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gyroscope</a:t>
            </a: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track movement and orientation. 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By using machine learning, we can train systems to automatically recognize these activities. 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technology is widely used in fitness apps, healthcare monitoring, and smart living systems.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F5C97-2C5D-68B2-511C-912424C5E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995" y="122440"/>
            <a:ext cx="5632477" cy="1046440"/>
          </a:xfrm>
        </p:spPr>
        <p:txBody>
          <a:bodyPr/>
          <a:lstStyle/>
          <a:p>
            <a:r>
              <a:rPr lang="en-IN" dirty="0"/>
              <a:t>Tools and Technology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46ACE52-B611-540B-178C-48A86E2412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35477" y="507161"/>
            <a:ext cx="6507382" cy="64633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Programming Language: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Libraries: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Pandas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Scikit-learn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Matplotlib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Platform: </a:t>
            </a:r>
          </a:p>
          <a:p>
            <a:pPr marL="285750" lvl="0" indent="-28575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Colab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Sensors: 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Accelerometer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Gyroscope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Frameworks: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TensorFlow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Techniques: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SMOTE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TensorFlow Lite Quantization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800918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1630B8-48A2-364C-EA8C-3A288C0FE2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513" y="109377"/>
            <a:ext cx="3569335" cy="523220"/>
          </a:xfrm>
        </p:spPr>
        <p:txBody>
          <a:bodyPr/>
          <a:lstStyle/>
          <a:p>
            <a:r>
              <a:rPr lang="en-IN" dirty="0"/>
              <a:t>Implementation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9C2B30A-66C8-99FE-B8BF-87F8A213A7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18604" y="1128890"/>
            <a:ext cx="6899268" cy="59093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Loaded UCI-HAR inertial sensor dataset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Applied SMOTE for class imbalance handling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Reshaped sensor windows into suitable formats for ML and DL models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Trained multiple models: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SVM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Random Forest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- 1D CNN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LSTM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CNN-LSTM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CNN-</a:t>
            </a:r>
            <a:r>
              <a:rPr lang="en-US" alt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BiLSTM</a:t>
            </a: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Compared models using: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Accuracy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Precision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Recall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F1-score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- ROC-AUC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endParaRPr lang="en-US" altLang="en-US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Converted CNN model into TensorFlow Lite format for edge deployment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4445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129209" y="109377"/>
            <a:ext cx="5372640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Objective</a:t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 flipH="1">
            <a:off x="278295" y="2071089"/>
            <a:ext cx="7414592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endParaRPr sz="1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4"/>
          <p:cNvSpPr/>
          <p:nvPr/>
        </p:nvSpPr>
        <p:spPr>
          <a:xfrm>
            <a:off x="129209" y="1220074"/>
            <a:ext cx="9214488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main goal of this project is to build a system that can recognize human activities using smartphone data.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aim to apply machine learning techniques to classify different activities accurately.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Another objective is to compare different models and find out which one performs best.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Ultimately, we want a system that is reliable, efficient, and easy to use.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"/>
          <p:cNvSpPr txBox="1">
            <a:spLocks noGrp="1"/>
          </p:cNvSpPr>
          <p:nvPr>
            <p:ph type="title"/>
          </p:nvPr>
        </p:nvSpPr>
        <p:spPr>
          <a:xfrm>
            <a:off x="69573" y="-10601"/>
            <a:ext cx="5361155" cy="59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90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Problem Statement</a:t>
            </a:r>
            <a:endParaRPr sz="3600"/>
          </a:p>
        </p:txBody>
      </p:sp>
      <p:sp>
        <p:nvSpPr>
          <p:cNvPr id="74" name="Google Shape;74;p3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-1" y="1561377"/>
            <a:ext cx="9532883" cy="3693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Observing and recording human activities manually is time-consuming and not always accurate.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data collected from sensors can be complex and noisy.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So, the challenge is to create a system that can: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Automatically detect activities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Work efficiently in real-time 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Maintain high accuracy without human effort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"/>
          <p:cNvSpPr txBox="1">
            <a:spLocks noGrp="1"/>
          </p:cNvSpPr>
          <p:nvPr>
            <p:ph type="title"/>
          </p:nvPr>
        </p:nvSpPr>
        <p:spPr>
          <a:xfrm>
            <a:off x="-834887" y="109377"/>
            <a:ext cx="6336735" cy="590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900" rIns="0" bIns="0" anchor="t" anchorCtr="0">
            <a:spAutoFit/>
          </a:bodyPr>
          <a:lstStyle/>
          <a:p>
            <a:pPr marL="99631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3600"/>
              <a:t>Methodology</a:t>
            </a:r>
            <a:endParaRPr/>
          </a:p>
        </p:txBody>
      </p:sp>
      <p:sp>
        <p:nvSpPr>
          <p:cNvPr id="81" name="Google Shape;81;p4"/>
          <p:cNvSpPr txBox="1"/>
          <p:nvPr/>
        </p:nvSpPr>
        <p:spPr>
          <a:xfrm>
            <a:off x="232155" y="1353176"/>
            <a:ext cx="8766900" cy="50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95250" marR="8890" lvl="0" indent="0" algn="just" rtl="0">
              <a:lnSpc>
                <a:spcPct val="151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4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97721" y="939766"/>
            <a:ext cx="9089645" cy="31392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First, we collect data from smartphone sensors like the accelerometer and gyroscope.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Then, we clean and process this data to remove noise and make it usable.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After that, we extract important features such as average values and variations in movement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/>
          </a:p>
          <a:p>
            <a:pPr lvl="0" indent="-114300"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Next, we train different machine learning models like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SVM, 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Forest, 1D CNN, LSTM,       	CNN-LSTM and  CNN-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BiLSTM</a:t>
            </a: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dirty="0"/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-114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Finally, we test these models and evaluate their performance 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5"/>
          <p:cNvSpPr txBox="1">
            <a:spLocks noGrp="1"/>
          </p:cNvSpPr>
          <p:nvPr>
            <p:ph type="title"/>
          </p:nvPr>
        </p:nvSpPr>
        <p:spPr>
          <a:xfrm>
            <a:off x="-834887" y="109377"/>
            <a:ext cx="6336735" cy="52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900" rIns="0" bIns="0" anchor="t" anchorCtr="0">
            <a:spAutoFit/>
          </a:bodyPr>
          <a:lstStyle/>
          <a:p>
            <a:pPr marL="99631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 b="1"/>
              <a:t>Class Distribution</a:t>
            </a:r>
            <a:endParaRPr sz="2400" b="1"/>
          </a:p>
        </p:txBody>
      </p:sp>
      <p:sp>
        <p:nvSpPr>
          <p:cNvPr id="89" name="Google Shape;89;p15"/>
          <p:cNvSpPr txBox="1"/>
          <p:nvPr/>
        </p:nvSpPr>
        <p:spPr>
          <a:xfrm>
            <a:off x="232155" y="1353176"/>
            <a:ext cx="8766900" cy="50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95250" marR="8890" lvl="0" indent="0" algn="just" rtl="0">
              <a:lnSpc>
                <a:spcPct val="151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754545" y="1604556"/>
            <a:ext cx="802953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1" name="Google Shape;91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39567" y="1190625"/>
            <a:ext cx="7645020" cy="5703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>
            <a:spLocks noGrp="1"/>
          </p:cNvSpPr>
          <p:nvPr>
            <p:ph type="title"/>
          </p:nvPr>
        </p:nvSpPr>
        <p:spPr>
          <a:xfrm>
            <a:off x="-834887" y="109377"/>
            <a:ext cx="7328284" cy="5287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57900" rIns="0" bIns="0" anchor="t" anchorCtr="0">
            <a:spAutoFit/>
          </a:bodyPr>
          <a:lstStyle/>
          <a:p>
            <a:pPr marL="996314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2400" b="1"/>
              <a:t>Model comparison</a:t>
            </a:r>
            <a:endParaRPr sz="2400" b="1"/>
          </a:p>
        </p:txBody>
      </p:sp>
      <p:sp>
        <p:nvSpPr>
          <p:cNvPr id="97" name="Google Shape;97;p16"/>
          <p:cNvSpPr txBox="1"/>
          <p:nvPr/>
        </p:nvSpPr>
        <p:spPr>
          <a:xfrm>
            <a:off x="232155" y="1353176"/>
            <a:ext cx="8766900" cy="502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1425" rIns="0" bIns="0" anchor="t" anchorCtr="0">
            <a:spAutoFit/>
          </a:bodyPr>
          <a:lstStyle/>
          <a:p>
            <a:pPr marL="95250" marR="8890" lvl="0" indent="0" algn="just" rtl="0">
              <a:lnSpc>
                <a:spcPct val="1518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6"/>
          <p:cNvSpPr txBox="1">
            <a:spLocks noGrp="1"/>
          </p:cNvSpPr>
          <p:nvPr>
            <p:ph type="ftr" idx="11"/>
          </p:nvPr>
        </p:nvSpPr>
        <p:spPr>
          <a:xfrm>
            <a:off x="9076876" y="6801811"/>
            <a:ext cx="110490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2</a:t>
            </a:r>
            <a:endParaRPr/>
          </a:p>
        </p:txBody>
      </p:sp>
      <p:sp>
        <p:nvSpPr>
          <p:cNvPr id="99" name="Google Shape;99;p16"/>
          <p:cNvSpPr txBox="1"/>
          <p:nvPr/>
        </p:nvSpPr>
        <p:spPr>
          <a:xfrm>
            <a:off x="754545" y="1604556"/>
            <a:ext cx="8029532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0" name="Google Shape;100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2155" y="1419225"/>
            <a:ext cx="9289290" cy="570342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71B19-386A-F329-AF3A-D9DC3029B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5637" y="109377"/>
            <a:ext cx="5086212" cy="1046440"/>
          </a:xfrm>
        </p:spPr>
        <p:txBody>
          <a:bodyPr/>
          <a:lstStyle/>
          <a:p>
            <a:r>
              <a:rPr lang="en-IN" dirty="0"/>
              <a:t>Accuracy Comparison Graph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27569E-80F8-6703-6153-3FD461D7F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4068"/>
            <a:ext cx="9753600" cy="4167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000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F4116-7B7D-9509-10E8-1D713100D7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513" y="109377"/>
            <a:ext cx="3569335" cy="523220"/>
          </a:xfrm>
        </p:spPr>
        <p:txBody>
          <a:bodyPr/>
          <a:lstStyle/>
          <a:p>
            <a:r>
              <a:rPr lang="en-IN" dirty="0"/>
              <a:t>Confusion Matrix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57780B-5019-2678-7FF0-E15E0960E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43612"/>
            <a:ext cx="9753600" cy="4027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375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906D6C-83BD-CBD7-F0FE-3C254B054C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7527" y="109377"/>
            <a:ext cx="4504321" cy="1046440"/>
          </a:xfrm>
        </p:spPr>
        <p:txBody>
          <a:bodyPr/>
          <a:lstStyle/>
          <a:p>
            <a:r>
              <a:rPr lang="en-IN" dirty="0"/>
              <a:t>Architecture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B10CA8-6345-E155-BBE4-0A8357A3F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7527" y="1252821"/>
            <a:ext cx="7110162" cy="5673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26117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19ac019662_0_1"/>
          <p:cNvSpPr txBox="1">
            <a:spLocks noGrp="1"/>
          </p:cNvSpPr>
          <p:nvPr>
            <p:ph type="title"/>
          </p:nvPr>
        </p:nvSpPr>
        <p:spPr>
          <a:xfrm>
            <a:off x="99392" y="181802"/>
            <a:ext cx="6156996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Results &amp; Discussion</a:t>
            </a:r>
            <a:endParaRPr/>
          </a:p>
        </p:txBody>
      </p:sp>
      <p:sp>
        <p:nvSpPr>
          <p:cNvPr id="106" name="Google Shape;106;g319ac019662_0_1"/>
          <p:cNvSpPr txBox="1">
            <a:spLocks noGrp="1"/>
          </p:cNvSpPr>
          <p:nvPr>
            <p:ph type="body" idx="1"/>
          </p:nvPr>
        </p:nvSpPr>
        <p:spPr>
          <a:xfrm flipH="1">
            <a:off x="9605818" y="7269481"/>
            <a:ext cx="1098332" cy="457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</a:pPr>
            <a:endParaRPr sz="1200"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g319ac019662_0_1"/>
          <p:cNvSpPr/>
          <p:nvPr/>
        </p:nvSpPr>
        <p:spPr>
          <a:xfrm>
            <a:off x="99392" y="1078598"/>
            <a:ext cx="9753600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>
              <a:buSzPts val="1800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Deep learning models outperformed classical machine learning models.</a:t>
            </a:r>
          </a:p>
          <a:p>
            <a:pPr lvl="0">
              <a:buSzPts val="1800"/>
            </a:pPr>
            <a:endParaRPr lang="en-US"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buSzPts val="1800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CNN-</a:t>
            </a:r>
            <a:r>
              <a:rPr lang="en-US" sz="1800" dirty="0" err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BiLSTM</a:t>
            </a: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achieved the highest accuracy of 92.87%.</a:t>
            </a:r>
          </a:p>
          <a:p>
            <a:pPr lvl="0">
              <a:buSzPts val="1800"/>
            </a:pPr>
            <a:endParaRPr lang="en-US"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buSzPts val="1800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1D CNN provided the best balance between accuracy and lightweight deployment.</a:t>
            </a:r>
          </a:p>
          <a:p>
            <a:pPr lvl="0">
              <a:buSzPts val="1800"/>
            </a:pPr>
            <a:endParaRPr lang="en-US"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buSzPts val="1800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SMOTE improved minority class recognition.</a:t>
            </a:r>
          </a:p>
          <a:p>
            <a:pPr lvl="0">
              <a:buSzPts val="1800"/>
            </a:pPr>
            <a:endParaRPr lang="en-US" sz="18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>
              <a:buSzPts val="1800"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• Activities such as sitting and standing were harder to classify due to similar sensor patterns.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4E4ED-89B0-326B-4AF6-DCF240B34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83" y="109377"/>
            <a:ext cx="6936377" cy="1046440"/>
          </a:xfrm>
        </p:spPr>
        <p:txBody>
          <a:bodyPr/>
          <a:lstStyle/>
          <a:p>
            <a:r>
              <a:rPr lang="en-IN" dirty="0"/>
              <a:t>Conclusion and Future 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E272E9-914C-00C7-BFB4-62D023933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8995" y="1289312"/>
            <a:ext cx="8952230" cy="4201150"/>
          </a:xfrm>
        </p:spPr>
        <p:txBody>
          <a:bodyPr/>
          <a:lstStyle/>
          <a:p>
            <a:r>
              <a:rPr lang="en-US" dirty="0"/>
              <a:t>• HAR using smartphone sensors is accurate and effective.</a:t>
            </a:r>
          </a:p>
          <a:p>
            <a:endParaRPr lang="en-US" dirty="0"/>
          </a:p>
          <a:p>
            <a:r>
              <a:rPr lang="en-US" dirty="0"/>
              <a:t>• Deep learning models achieved better performance than classical ML models.</a:t>
            </a:r>
          </a:p>
          <a:p>
            <a:endParaRPr lang="en-US" dirty="0"/>
          </a:p>
          <a:p>
            <a:r>
              <a:rPr lang="en-US" dirty="0"/>
              <a:t>• CNN-</a:t>
            </a:r>
            <a:r>
              <a:rPr lang="en-US" dirty="0" err="1"/>
              <a:t>BiLSTM</a:t>
            </a:r>
            <a:r>
              <a:rPr lang="en-US" dirty="0"/>
              <a:t> achieved the highest accuracy.</a:t>
            </a:r>
          </a:p>
          <a:p>
            <a:endParaRPr lang="en-US" dirty="0"/>
          </a:p>
          <a:p>
            <a:r>
              <a:rPr lang="en-US" dirty="0"/>
              <a:t>• TensorFlow Lite enabled lightweight deployment for edge devices.</a:t>
            </a:r>
          </a:p>
          <a:p>
            <a:endParaRPr lang="en-US" dirty="0"/>
          </a:p>
          <a:p>
            <a:r>
              <a:rPr lang="en-US" dirty="0"/>
              <a:t>Future Scope:</a:t>
            </a:r>
          </a:p>
          <a:p>
            <a:r>
              <a:rPr lang="en-US" dirty="0"/>
              <a:t>• Real-time mobile deployment</a:t>
            </a:r>
          </a:p>
          <a:p>
            <a:r>
              <a:rPr lang="en-US" dirty="0"/>
              <a:t>• Transformer-based HAR models</a:t>
            </a:r>
          </a:p>
          <a:p>
            <a:r>
              <a:rPr lang="en-US" dirty="0"/>
              <a:t>• Multi-sensor fusion</a:t>
            </a:r>
          </a:p>
          <a:p>
            <a:r>
              <a:rPr lang="en-US" dirty="0"/>
              <a:t>• Personalized activity recognition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5168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E1AB5-35B1-9413-D068-EADEA4325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865" y="109377"/>
            <a:ext cx="5345984" cy="1046440"/>
          </a:xfrm>
        </p:spPr>
        <p:txBody>
          <a:bodyPr/>
          <a:lstStyle/>
          <a:p>
            <a:r>
              <a:rPr lang="en-IN" dirty="0"/>
              <a:t>TensorFlow Lite Deployment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217C60-31FA-1E63-1FE5-B592335D5B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8995" y="1289312"/>
            <a:ext cx="8952230" cy="2262158"/>
          </a:xfrm>
        </p:spPr>
        <p:txBody>
          <a:bodyPr/>
          <a:lstStyle/>
          <a:p>
            <a:r>
              <a:rPr lang="en-IN" dirty="0"/>
              <a:t>• 1D CNN model converted into TensorFlow Lite format</a:t>
            </a:r>
          </a:p>
          <a:p>
            <a:endParaRPr lang="en-IN" dirty="0"/>
          </a:p>
          <a:p>
            <a:r>
              <a:rPr lang="en-IN" dirty="0"/>
              <a:t>• Quantization reduced model size to approximately 45 KB</a:t>
            </a:r>
          </a:p>
          <a:p>
            <a:endParaRPr lang="en-IN" dirty="0"/>
          </a:p>
          <a:p>
            <a:r>
              <a:rPr lang="en-IN" dirty="0"/>
              <a:t>• Suitable for lightweight edge deployment scenarios</a:t>
            </a:r>
          </a:p>
          <a:p>
            <a:endParaRPr lang="en-IN" dirty="0"/>
          </a:p>
          <a:p>
            <a:r>
              <a:rPr lang="en-IN" dirty="0"/>
              <a:t>• Enables low-memory mobile inference</a:t>
            </a:r>
          </a:p>
        </p:txBody>
      </p:sp>
    </p:spTree>
    <p:extLst>
      <p:ext uri="{BB962C8B-B14F-4D97-AF65-F5344CB8AC3E}">
        <p14:creationId xmlns:p14="http://schemas.microsoft.com/office/powerpoint/2010/main" val="38238085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>
            <a:spLocks noGrp="1"/>
          </p:cNvSpPr>
          <p:nvPr>
            <p:ph type="title"/>
          </p:nvPr>
        </p:nvSpPr>
        <p:spPr>
          <a:xfrm>
            <a:off x="417443" y="109377"/>
            <a:ext cx="5084405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107663" y="990346"/>
            <a:ext cx="9231455" cy="31700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 lvl="0"/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1. Smartphone sensors can effectively recognize human activities.</a:t>
            </a:r>
          </a:p>
          <a:p>
            <a:pPr lvl="0"/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/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2. Deep learning significantly improves HAR performance.</a:t>
            </a:r>
          </a:p>
          <a:p>
            <a:pPr lvl="0"/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/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3. CNN-</a:t>
            </a:r>
            <a:r>
              <a:rPr lang="en-US" sz="2000" dirty="0" err="1">
                <a:latin typeface="Times New Roman"/>
                <a:ea typeface="Times New Roman"/>
                <a:cs typeface="Times New Roman"/>
                <a:sym typeface="Times New Roman"/>
              </a:rPr>
              <a:t>BiLSTM</a:t>
            </a:r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 achieved the best overall accuracy.</a:t>
            </a:r>
          </a:p>
          <a:p>
            <a:pPr lvl="0"/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/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4. TensorFlow Lite enables lightweight edge deployment.</a:t>
            </a:r>
          </a:p>
          <a:p>
            <a:pPr lvl="0"/>
            <a:endParaRPr lang="en-US" sz="20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lvl="0"/>
            <a:r>
              <a:rPr lang="en-US" sz="2000" dirty="0">
                <a:latin typeface="Times New Roman"/>
                <a:ea typeface="Times New Roman"/>
                <a:cs typeface="Times New Roman"/>
                <a:sym typeface="Times New Roman"/>
              </a:rPr>
              <a:t>5. Future improvements include real-time deployment and transformer-based architectures.</a:t>
            </a:r>
            <a:endParaRPr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B12A0-DDD7-0A27-FA89-DA4ACA20D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8195" y="109376"/>
            <a:ext cx="8804366" cy="3754874"/>
          </a:xfrm>
        </p:spPr>
        <p:txBody>
          <a:bodyPr/>
          <a:lstStyle/>
          <a:p>
            <a:r>
              <a:rPr lang="en-US" b="1" dirty="0"/>
              <a:t>References</a:t>
            </a:r>
            <a:br>
              <a:rPr lang="en-US" b="1" dirty="0"/>
            </a:br>
            <a:br>
              <a:rPr lang="en-US" b="1" dirty="0"/>
            </a:br>
            <a:br>
              <a:rPr lang="en-US" b="1" dirty="0"/>
            </a:br>
            <a:br>
              <a:rPr lang="en-US" sz="1800" b="1" dirty="0"/>
            </a:br>
            <a:r>
              <a:rPr lang="en-US" sz="1800" dirty="0"/>
              <a:t>• UCI Human Activity Recognition Dataset</a:t>
            </a:r>
            <a:br>
              <a:rPr lang="en-US" sz="1800" dirty="0"/>
            </a:br>
            <a:r>
              <a:rPr lang="en-US" sz="1800" dirty="0"/>
              <a:t>• TensorFlow Documentation</a:t>
            </a:r>
            <a:br>
              <a:rPr lang="en-US" sz="1800" dirty="0"/>
            </a:br>
            <a:r>
              <a:rPr lang="en-US" sz="1800" dirty="0"/>
              <a:t>• Scikit-learn Documentation</a:t>
            </a:r>
            <a:br>
              <a:rPr lang="en-US" sz="1800" dirty="0"/>
            </a:br>
            <a:r>
              <a:rPr lang="en-US" sz="1800" dirty="0"/>
              <a:t>• Research papers on HAR and Deep Learning</a:t>
            </a:r>
            <a:br>
              <a:rPr lang="en-US" sz="1800" dirty="0"/>
            </a:br>
            <a:r>
              <a:rPr lang="en-US" sz="1800" dirty="0"/>
              <a:t>• TensorFlow Lite Documentation</a:t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394422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06287-1DBC-6A87-1835-8695D48BA5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2513" y="109377"/>
            <a:ext cx="3569335" cy="523220"/>
          </a:xfrm>
        </p:spPr>
        <p:txBody>
          <a:bodyPr/>
          <a:lstStyle/>
          <a:p>
            <a:r>
              <a:rPr lang="en-IN" dirty="0"/>
              <a:t>Appendices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644183-5A73-3C62-1D52-1175EBBB99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28995" y="1224002"/>
            <a:ext cx="6402879" cy="1754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Sample dataset details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Additional graphs and charts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Code snippets (if required) </a:t>
            </a:r>
          </a:p>
        </p:txBody>
      </p:sp>
    </p:spTree>
    <p:extLst>
      <p:ext uri="{BB962C8B-B14F-4D97-AF65-F5344CB8AC3E}">
        <p14:creationId xmlns:p14="http://schemas.microsoft.com/office/powerpoint/2010/main" val="2259342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"/>
          <p:cNvSpPr txBox="1">
            <a:spLocks noGrp="1"/>
          </p:cNvSpPr>
          <p:nvPr>
            <p:ph type="title"/>
          </p:nvPr>
        </p:nvSpPr>
        <p:spPr>
          <a:xfrm>
            <a:off x="3137882" y="2901732"/>
            <a:ext cx="3644900" cy="3553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950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 sz="5750"/>
              <a:t>Thank You</a:t>
            </a:r>
            <a:br>
              <a:rPr lang="en-US" sz="5750"/>
            </a:br>
            <a:br>
              <a:rPr lang="en-US" sz="5750"/>
            </a:br>
            <a:br>
              <a:rPr lang="en-US" sz="5750"/>
            </a:br>
            <a:endParaRPr sz="5750"/>
          </a:p>
        </p:txBody>
      </p:sp>
      <p:sp>
        <p:nvSpPr>
          <p:cNvPr id="119" name="Google Shape;119;p7"/>
          <p:cNvSpPr txBox="1"/>
          <p:nvPr/>
        </p:nvSpPr>
        <p:spPr>
          <a:xfrm>
            <a:off x="9074494" y="6801811"/>
            <a:ext cx="112395" cy="220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825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000000"/>
                </a:solidFill>
                <a:latin typeface="Trebuchet MS"/>
                <a:ea typeface="Trebuchet MS"/>
                <a:cs typeface="Trebuchet MS"/>
                <a:sym typeface="Trebuchet MS"/>
              </a:rPr>
              <a:t>3</a:t>
            </a:r>
            <a:endParaRPr sz="1200" b="0" i="0" u="none" strike="noStrike" cap="none">
              <a:solidFill>
                <a:srgbClr val="000000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837</Words>
  <Application>Microsoft Office PowerPoint</Application>
  <PresentationFormat>Custom</PresentationFormat>
  <Paragraphs>188</Paragraphs>
  <Slides>20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Times New Roman</vt:lpstr>
      <vt:lpstr>Trebuchet MS</vt:lpstr>
      <vt:lpstr>Office Theme</vt:lpstr>
      <vt:lpstr>PowerPoint Presentation</vt:lpstr>
      <vt:lpstr>PowerPoint Presentation</vt:lpstr>
      <vt:lpstr>Introduction</vt:lpstr>
      <vt:lpstr>Tools and Technology</vt:lpstr>
      <vt:lpstr>Implementation</vt:lpstr>
      <vt:lpstr>Objective</vt:lpstr>
      <vt:lpstr>Problem Statement</vt:lpstr>
      <vt:lpstr>Methodology</vt:lpstr>
      <vt:lpstr>Class Distribution</vt:lpstr>
      <vt:lpstr>Model comparison</vt:lpstr>
      <vt:lpstr>Accuracy Comparison Graph</vt:lpstr>
      <vt:lpstr>Confusion Matrix</vt:lpstr>
      <vt:lpstr>Architecture Diagram</vt:lpstr>
      <vt:lpstr>Results &amp; Discussion</vt:lpstr>
      <vt:lpstr>Conclusion and Future scope</vt:lpstr>
      <vt:lpstr>TensorFlow Lite Deployment</vt:lpstr>
      <vt:lpstr>Conclusion</vt:lpstr>
      <vt:lpstr>References    • UCI Human Activity Recognition Dataset • TensorFlow Documentation • Scikit-learn Documentation • Research papers on HAR and Deep Learning • TensorFlow Lite Documentation </vt:lpstr>
      <vt:lpstr>Appendices</vt:lpstr>
      <vt:lpstr>Thank You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nakul JAIN</dc:creator>
  <cp:lastModifiedBy>khushvir singh maan</cp:lastModifiedBy>
  <cp:revision>2</cp:revision>
  <dcterms:created xsi:type="dcterms:W3CDTF">2026-03-24T19:17:42Z</dcterms:created>
  <dcterms:modified xsi:type="dcterms:W3CDTF">2026-05-07T14:48:25Z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2024-08-03T00:00:00Z</vt:filetime>
  </property>
  <property fmtid="{D5CDD505-2E9C-101B-9397-08002B2CF9AE}" pid="3" name="Creator">
    <vt:lpwstr>Canva</vt:lpwstr>
  </property>
  <property fmtid="{D5CDD505-2E9C-101B-9397-08002B2CF9AE}" pid="4" name="LastSaved">
    <vt:filetime>2024-10-02T00:00:00Z</vt:filetime>
  </property>
  <property fmtid="{D5CDD505-2E9C-101B-9397-08002B2CF9AE}" pid="5" name="Producer">
    <vt:lpwstr>Canva</vt:lpwstr>
  </property>
</Properties>
</file>